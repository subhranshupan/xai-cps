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75" r:id="rId4"/>
    <p:sldId id="276" r:id="rId5"/>
    <p:sldId id="261" r:id="rId6"/>
    <p:sldId id="262" r:id="rId7"/>
    <p:sldId id="273" r:id="rId8"/>
    <p:sldId id="263" r:id="rId9"/>
    <p:sldId id="264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314439-D8A7-4659-A640-12C8A1DD6CBD}" v="5" dt="2025-11-18T08:33:39.5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A8A9F-3D44-8FA1-4195-1BB256A71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A31ED-0FD8-182A-BD8C-FDA4E992E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CFC32-1E5B-4EB5-4EF6-94012EB5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3AEBD-1253-633D-AE53-1D2D1F8F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8E9FB-41DA-BFAE-539D-65E7C367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532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3235A-1238-F270-ACCB-71D125E28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36FFA-AC4A-805C-BE0A-DC09584DF5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92EF2-8007-DE15-CE3D-0F048740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0071E-BF5E-2190-F834-8466D2B0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B2A03-592A-2798-42B6-CC440755C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4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B5463-7266-DA4A-891A-62DAC02FF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A3C59-B5C1-9EB4-C036-91658DECA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EDE32-C462-15C0-E228-6738DAD6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3BFC0-4102-D467-E434-DC1EE70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CBB592-324D-A45E-41AC-DF71C2D4C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275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26FA1-CD79-AC71-75D1-C146A92C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D928-A384-453A-3F4B-3C5B4990B6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DBA35-E537-9ED1-38D9-4F684D757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5DB43A-F401-9FFB-5F15-202C1D744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06793-85D9-CF57-E5AF-C875746DB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2853A1-FB9B-2B2C-C5C6-6CF8C44D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56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8708D-E964-74CA-7B2B-22AE983A8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936A0-5B24-D439-F681-2A50411AC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2C5E6-EBDD-2269-19B8-6662DC0C5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6041F-1229-BF80-243B-B0C1256619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A40736-1B8A-6E2B-77CC-B593985167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136309-F7ED-B0F0-D3E6-38790A068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583E8D-6D5E-C4AC-AACA-299E98F55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5CEBFD-F72A-559D-B7F0-01EA4043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3331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0FF60-1C48-D8C9-55F4-78CBA157F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BEA53-01EE-266C-C7EB-DD36D9C02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2F8F2-8B27-BEDE-E570-216A3363B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2D72AA-2E89-811E-E921-4A9F2B7ED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248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F0B514-418F-4FDB-75E5-CE4D1FEC2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47390-6C37-3CEC-86A8-84C978C68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E9E8EC-B5FC-BF4B-B28F-989C92E0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122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980D-B1C4-599A-8404-8A7BCF843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D02CD-B20D-A9CB-60F1-05055CE45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71FB6-9C06-C9D0-88A9-106F12C2F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0C010E-7063-1E6B-819C-BDCCB8420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4B2DD-1654-9497-98C0-8E22A75B4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D0658A-A8C8-17D5-206D-940B0A24F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30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8FC25-D562-87EC-CBDA-10396DC8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728BE6-E654-9989-D6FF-B9FB92918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0D7388-87FF-EC9E-6E0D-EFCF45667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D79C1-C19C-B3E5-35AB-5AE99D098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021EC-9A5A-F4C3-73EB-9332F559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C7F28D-860D-6AB3-AB07-D814401C8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906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B241F-FA7B-5D44-0099-1E2CB8D4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13AC4-99C2-6140-FB30-4575B34CBE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75F1A-F4A2-F15C-3C7F-EEE448F72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68E63-B4C1-E553-C8D3-83ED9AEBF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9C98B-FDF0-7CB7-F6C3-29052B70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944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1295E2-D4FF-728A-173E-B28D6F34DE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C4629-05A0-162B-C4EC-035A9644F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C7B2E-BF96-F8A9-1038-6A9ACA053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88583-D2DE-4CDC-AE03-528ECAE0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D7EB5-6A7F-B564-036E-186598A3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D81A8-18F5-A9C9-9D65-FF224E34B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DF4EC-38FB-042A-6F8F-712FDFCD7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18F48-D796-124F-9771-501E58DB1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047C3-DED0-4E84-BF6B-66A2F85B059B}" type="datetimeFigureOut">
              <a:rPr lang="en-IN" smtClean="0"/>
              <a:t>22-02-2026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11C3B0-2306-F333-04CD-A9AA65987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F65C6C-DB7D-F189-44CE-62C83152B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0BAB1C-DC8F-443F-B9AD-D024A1A588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48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687C-A3CB-8C6B-C513-9DA3BDE09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55985"/>
            <a:ext cx="10515600" cy="4351338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rgbClr val="002060"/>
                </a:solidFill>
              </a:rPr>
              <a:t>Building the Glass Box:</a:t>
            </a:r>
            <a:br>
              <a:rPr lang="en-US" sz="4800" b="1" dirty="0">
                <a:solidFill>
                  <a:srgbClr val="002060"/>
                </a:solidFill>
              </a:rPr>
            </a:br>
            <a:r>
              <a:rPr lang="en-US" sz="4800" b="1" dirty="0">
                <a:solidFill>
                  <a:srgbClr val="002060"/>
                </a:solidFill>
              </a:rPr>
              <a:t>A Human-Centered Framework for Explainable AI in Cyber-Physical Systems</a:t>
            </a:r>
            <a:br>
              <a:rPr lang="en-US" sz="4800" b="1" dirty="0">
                <a:solidFill>
                  <a:srgbClr val="002060"/>
                </a:solidFill>
              </a:rPr>
            </a:br>
            <a:endParaRPr lang="en-IN" sz="48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A0CB0-F752-D88C-E906-22741D68C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710" y="3605263"/>
            <a:ext cx="10515600" cy="4351338"/>
          </a:xfrm>
        </p:spPr>
        <p:txBody>
          <a:bodyPr/>
          <a:lstStyle/>
          <a:p>
            <a:endParaRPr lang="en-IN" dirty="0"/>
          </a:p>
          <a:p>
            <a:pPr marL="0" indent="0" algn="ctr">
              <a:buNone/>
            </a:pPr>
            <a:r>
              <a:rPr lang="en-IN" dirty="0"/>
              <a:t>Subhranshu Panda (B122117)</a:t>
            </a:r>
          </a:p>
          <a:p>
            <a:pPr marL="0" indent="0" algn="ctr">
              <a:buNone/>
            </a:pPr>
            <a:r>
              <a:rPr lang="en-IN" dirty="0"/>
              <a:t>Shreyansh Gupta (B122109)</a:t>
            </a:r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2400" i="1" dirty="0"/>
              <a:t>Guide: Prof. Bharati Mishra</a:t>
            </a:r>
            <a:br>
              <a:rPr lang="en-IN" sz="2400" i="1" dirty="0"/>
            </a:br>
            <a:r>
              <a:rPr lang="en-IN" sz="2400" i="1" dirty="0"/>
              <a:t>IIIT Bhubaneswar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35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392AE-37A1-713A-3B56-95CFA737A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7819" y="29497"/>
            <a:ext cx="11307096" cy="1099727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002060"/>
                </a:solidFill>
              </a:rPr>
              <a:t>The Core Problem: The Context-Awareness Gap</a:t>
            </a:r>
            <a:endParaRPr lang="en-IN" sz="4400" b="1" dirty="0">
              <a:solidFill>
                <a:srgbClr val="00206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DE30F1-C77D-DD3F-4470-BD57F4FC7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748" y="1343387"/>
            <a:ext cx="10274709" cy="5263890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/>
              <a:t>Standard XAI Limitation:</a:t>
            </a:r>
            <a:r>
              <a:rPr lang="en-US" sz="2800" dirty="0"/>
              <a:t> Current methods like LIME or SHAP are often "context-agnostic".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800" b="1" dirty="0"/>
              <a:t>The Issue:</a:t>
            </a:r>
            <a:r>
              <a:rPr lang="en-US" sz="2800" dirty="0"/>
              <a:t> They explain the AI model's internal logic (e.g., which pixels or sensor values were weighted) but ignore the physical environment (e.g., weather, time, or system state).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lvl="0" indent="-45720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The Consequence:</a:t>
            </a:r>
            <a:r>
              <a:rPr lang="en-US" altLang="en-US" sz="2800" dirty="0">
                <a:latin typeface="Arial" panose="020B0604020202020204" pitchFamily="34" charset="0"/>
              </a:rPr>
              <a:t> Without context, AI explanations are often "unintelligible" and "not actionable" for human operators in safety-critical systems.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8784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ECECC-F098-E9FB-75BA-6B9BCE7F7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03376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Our Experimental Setup: One Dataset, Two Models</a:t>
            </a:r>
            <a:endParaRPr lang="en-IN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AFAB8-CAB1-6901-EFE3-66F821531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2130425"/>
            <a:ext cx="10759440" cy="4057015"/>
          </a:xfrm>
        </p:spPr>
        <p:txBody>
          <a:bodyPr/>
          <a:lstStyle/>
          <a:p>
            <a:r>
              <a:rPr lang="en-US" b="1" dirty="0"/>
              <a:t>The Dataset:</a:t>
            </a:r>
            <a:r>
              <a:rPr lang="en-US" dirty="0"/>
              <a:t> Simulated sensor telemetry from a Smart Water Treatment System.</a:t>
            </a:r>
          </a:p>
          <a:p>
            <a:r>
              <a:rPr lang="en-US" b="1" dirty="0"/>
              <a:t>Model A: Context-Agnostic (Standard AI)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    Logic:</a:t>
            </a:r>
            <a:r>
              <a:rPr lang="en-US" dirty="0"/>
              <a:t> Discards "unnecessary" environmental variables to focus purely on raw data correlation.</a:t>
            </a:r>
          </a:p>
          <a:p>
            <a:pPr marL="0" indent="0">
              <a:buNone/>
            </a:pPr>
            <a:r>
              <a:rPr lang="en-US" b="1" dirty="0"/>
              <a:t>    Output:</a:t>
            </a:r>
            <a:r>
              <a:rPr lang="en-US" dirty="0"/>
              <a:t> Identifies an anomaly but cannot explain the external cause.</a:t>
            </a:r>
          </a:p>
          <a:p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092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FCEE2-C1C7-B62B-92E7-B11423117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8F60719-B02E-D75F-08C1-A3598C99E76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1488" y="1880732"/>
            <a:ext cx="10882312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B: Context-Aware (Proposed XAI)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Logic: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Incorporates physical and virtual context (e.g., environmental factors) into the reasoning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Output: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Identifies the anomaly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the contextual reason why it occurred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657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40D38-83E8-FFC4-E7A0-F02056485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Technical Workflow &amp;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B186B-3871-F558-8DB6-DE9D7FC75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Backend:</a:t>
            </a:r>
            <a:r>
              <a:rPr lang="en-US" dirty="0"/>
              <a:t> Python-based multi-agent framework using </a:t>
            </a:r>
            <a:r>
              <a:rPr lang="en-US" b="1" dirty="0"/>
              <a:t>Microsoft </a:t>
            </a:r>
            <a:r>
              <a:rPr lang="en-US" b="1" dirty="0" err="1"/>
              <a:t>AutoGen</a:t>
            </a:r>
            <a:r>
              <a:rPr lang="en-US" dirty="0"/>
              <a:t> and </a:t>
            </a:r>
            <a:r>
              <a:rPr lang="en-US" b="1" dirty="0"/>
              <a:t>Llama 3.2</a:t>
            </a:r>
            <a:r>
              <a:rPr lang="en-US" dirty="0"/>
              <a:t> (offline for security).</a:t>
            </a:r>
          </a:p>
          <a:p>
            <a:r>
              <a:rPr lang="en-US" b="1" dirty="0"/>
              <a:t>Analysis Engine:</a:t>
            </a:r>
            <a:r>
              <a:rPr lang="en-US" dirty="0"/>
              <a:t> A custom Python script that analyzes the same dataset through both models to contrast their outputs.</a:t>
            </a:r>
          </a:p>
          <a:p>
            <a:r>
              <a:rPr lang="en-US" b="1" dirty="0"/>
              <a:t>Frontend Interface:</a:t>
            </a:r>
            <a:r>
              <a:rPr lang="en-US" dirty="0"/>
              <a:t> A "Glass Box" dashboard built with </a:t>
            </a:r>
            <a:r>
              <a:rPr lang="en-US" b="1" dirty="0" err="1"/>
              <a:t>Streamlit</a:t>
            </a:r>
            <a:r>
              <a:rPr lang="en-US" dirty="0"/>
              <a:t> to visualize side-by-side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19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A22A-6C2A-E39B-4276-92B68D6F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Proving XAI: How the Outputs Differ</a:t>
            </a:r>
            <a:endParaRPr lang="en-IN" b="1" dirty="0">
              <a:solidFill>
                <a:srgbClr val="00206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0F9AABF-D490-5E89-8511-A61A713F7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728959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588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656BDF7-CECC-D1A9-80B8-F9F3308BE9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5582286"/>
              </p:ext>
            </p:extLst>
          </p:nvPr>
        </p:nvGraphicFramePr>
        <p:xfrm>
          <a:off x="685800" y="1005840"/>
          <a:ext cx="10515600" cy="3703321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4367777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789779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272379867"/>
                    </a:ext>
                  </a:extLst>
                </a:gridCol>
              </a:tblGrid>
              <a:tr h="51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A: Context-Agnostic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 B: Context-Aware (XAI)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973895"/>
                  </a:ext>
                </a:extLst>
              </a:tr>
              <a:tr h="51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Prediction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"System Failure Detected"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"System Failure Detected"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807297"/>
                  </a:ext>
                </a:extLst>
              </a:tr>
              <a:tr h="12770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Reasoning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"Discharge rate exceeded threshold."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"Discharge rate high due to compensation for heavy rainfall/high winds."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4356149"/>
                  </a:ext>
                </a:extLst>
              </a:tr>
              <a:tr h="89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Actionability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Low (User must investigate 'why').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High (User understands the external cause immediately).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3931509"/>
                  </a:ext>
                </a:extLst>
              </a:tr>
              <a:tr h="5108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Insights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Tells you </a:t>
                      </a:r>
                      <a:r>
                        <a:rPr lang="en-IN" b="1"/>
                        <a:t>WHAT</a:t>
                      </a:r>
                      <a:r>
                        <a:rPr lang="en-IN"/>
                        <a:t> happened.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Tells you </a:t>
                      </a:r>
                      <a:r>
                        <a:rPr lang="en-US" b="1" dirty="0"/>
                        <a:t>WHY</a:t>
                      </a:r>
                      <a:r>
                        <a:rPr lang="en-US" dirty="0"/>
                        <a:t> it happened.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469089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A750C4E0-7D22-2147-5A13-0CBD02119B7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371600" y="5060573"/>
            <a:ext cx="7879080" cy="1583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D332CB-A339-7EF5-D376-FD688D4FD734}"/>
              </a:ext>
            </a:extLst>
          </p:cNvPr>
          <p:cNvSpPr txBox="1"/>
          <p:nvPr/>
        </p:nvSpPr>
        <p:spPr>
          <a:xfrm>
            <a:off x="685800" y="5243452"/>
            <a:ext cx="10134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Finding: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XAI proves itself by providing the "reason" alongside the "issue," which is essential for audit trails and safety in Cyber-Physical Systems.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32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2A01-EA0D-08BC-6FD6-82D0B8CF4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267" y="218511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Human-</a:t>
            </a:r>
            <a:r>
              <a:rPr lang="en-IN" b="1" dirty="0" err="1">
                <a:solidFill>
                  <a:srgbClr val="002060"/>
                </a:solidFill>
              </a:rPr>
              <a:t>Centered</a:t>
            </a:r>
            <a:r>
              <a:rPr lang="en-IN" b="1" dirty="0">
                <a:solidFill>
                  <a:srgbClr val="002060"/>
                </a:solidFill>
              </a:rPr>
              <a:t> Evaluation (HCE)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7128E5B-EFE4-07A6-FAB1-231534714D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95288" y="1544074"/>
            <a:ext cx="1245203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The Metrics:</a:t>
            </a:r>
            <a:r>
              <a:rPr lang="en-US" altLang="en-US" dirty="0">
                <a:latin typeface="Arial" panose="020B0604020202020204" pitchFamily="34" charset="0"/>
              </a:rPr>
              <a:t> We evaluate our XAI model based on three core human-centered metrics: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    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47C7BC-1548-ED19-AD58-B14745264E3C}"/>
              </a:ext>
            </a:extLst>
          </p:cNvPr>
          <p:cNvSpPr txBox="1"/>
          <p:nvPr/>
        </p:nvSpPr>
        <p:spPr>
          <a:xfrm>
            <a:off x="1017270" y="2636270"/>
            <a:ext cx="884301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Arial" panose="020B0604020202020204" pitchFamily="34" charset="0"/>
              </a:rPr>
              <a:t>Trust:</a:t>
            </a:r>
            <a:r>
              <a:rPr lang="en-US" altLang="en-US" sz="2800" dirty="0">
                <a:latin typeface="Arial" panose="020B0604020202020204" pitchFamily="34" charset="0"/>
              </a:rPr>
              <a:t> Does the explanation build user confidence? </a:t>
            </a:r>
          </a:p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Arial" panose="020B0604020202020204" pitchFamily="34" charset="0"/>
              </a:rPr>
              <a:t>Reasonableness: </a:t>
            </a:r>
            <a:r>
              <a:rPr lang="en-US" altLang="en-US" sz="2800" dirty="0">
                <a:latin typeface="Arial" panose="020B0604020202020204" pitchFamily="34" charset="0"/>
              </a:rPr>
              <a:t>Does the explanation make sense to a domain expert? </a:t>
            </a:r>
          </a:p>
          <a:p>
            <a:pPr marL="457200" lvl="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b="1" dirty="0">
                <a:latin typeface="Arial" panose="020B0604020202020204" pitchFamily="34" charset="0"/>
              </a:rPr>
              <a:t>Actionability:</a:t>
            </a:r>
            <a:r>
              <a:rPr lang="en-US" altLang="en-US" sz="2800" dirty="0">
                <a:latin typeface="Arial" panose="020B0604020202020204" pitchFamily="34" charset="0"/>
              </a:rPr>
              <a:t> Can the operator make a correct decision based on this info?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endParaRPr lang="en-US" altLang="en-US" sz="2800" dirty="0"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8891F0-629E-97D7-AEC6-D819BB59777A}"/>
              </a:ext>
            </a:extLst>
          </p:cNvPr>
          <p:cNvSpPr txBox="1"/>
          <p:nvPr/>
        </p:nvSpPr>
        <p:spPr>
          <a:xfrm>
            <a:off x="395288" y="5313926"/>
            <a:ext cx="1149173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800" b="1" dirty="0"/>
              <a:t>The Result:</a:t>
            </a:r>
            <a:r>
              <a:rPr lang="en-US" sz="2800" dirty="0"/>
              <a:t> The context-aware model significantly outperformed the standard model across all three metrics.</a:t>
            </a:r>
            <a:endParaRPr lang="en-US" altLang="en-US" sz="2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922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515A7-6D18-5E82-ABEA-1AEB3B3C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Conclusion &amp; The Path Forward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813F-5952-FBEF-8E62-74E5EE7C5C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r>
              <a:rPr lang="en-US" b="1" dirty="0"/>
              <a:t>Summary:</a:t>
            </a:r>
            <a:r>
              <a:rPr lang="en-US" dirty="0"/>
              <a:t> We successfully moved from theory to a functional "Glass Box" prototype that solves the "Context-Awareness Gap".</a:t>
            </a:r>
          </a:p>
          <a:p>
            <a:endParaRPr lang="en-US" dirty="0"/>
          </a:p>
          <a:p>
            <a:r>
              <a:rPr lang="en-US" altLang="en-US" b="1" dirty="0">
                <a:latin typeface="Arial" panose="020B0604020202020204" pitchFamily="34" charset="0"/>
              </a:rPr>
              <a:t>Conclusion:</a:t>
            </a:r>
            <a:r>
              <a:rPr lang="en-US" altLang="en-US" dirty="0">
                <a:latin typeface="Arial" panose="020B0604020202020204" pitchFamily="34" charset="0"/>
              </a:rPr>
              <a:t> Context is the "common language" required for true human-machine collaboration in Industry 5.0.</a:t>
            </a:r>
          </a:p>
          <a:p>
            <a:endParaRPr lang="en-US" altLang="en-US" dirty="0">
              <a:latin typeface="Arial" panose="020B0604020202020204" pitchFamily="34" charset="0"/>
            </a:endParaRPr>
          </a:p>
          <a:p>
            <a:r>
              <a:rPr lang="en-US" b="1" dirty="0"/>
              <a:t>Future Work:</a:t>
            </a:r>
            <a:r>
              <a:rPr lang="en-US" dirty="0"/>
              <a:t> Scaling to real-time industrial data and exploring multisensory explanations (haptics/sound).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2723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B6A6D-A6E4-4525-B6D8-999EE0FB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F8C06-3944-0576-FD0E-2E1389C79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387" y="2506662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IN" sz="6000" b="1" dirty="0">
                <a:solidFill>
                  <a:srgbClr val="002060"/>
                </a:solidFill>
              </a:rPr>
              <a:t>Thank You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2957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399</TotalTime>
  <Words>528</Words>
  <Application>Microsoft Office PowerPoint</Application>
  <PresentationFormat>Widescreen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Building the Glass Box: A Human-Centered Framework for Explainable AI in Cyber-Physical Systems </vt:lpstr>
      <vt:lpstr>The Core Problem: The Context-Awareness Gap</vt:lpstr>
      <vt:lpstr>Our Experimental Setup: One Dataset, Two Models</vt:lpstr>
      <vt:lpstr>PowerPoint Presentation</vt:lpstr>
      <vt:lpstr>Technical Workflow &amp; Implementation</vt:lpstr>
      <vt:lpstr>Proving XAI: How the Outputs Differ</vt:lpstr>
      <vt:lpstr>PowerPoint Presentation</vt:lpstr>
      <vt:lpstr>Human-Centered Evaluation (HCE)</vt:lpstr>
      <vt:lpstr>Conclusion &amp; The Path Forward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the Glass Box: A Human-Centered Framework for Explainable AI in Cyber-Physical Systems</dc:title>
  <dc:creator>Shreyansh Gupta</dc:creator>
  <cp:lastModifiedBy>Shreyansh Gupta</cp:lastModifiedBy>
  <cp:revision>4</cp:revision>
  <dcterms:created xsi:type="dcterms:W3CDTF">2025-11-17T19:12:46Z</dcterms:created>
  <dcterms:modified xsi:type="dcterms:W3CDTF">2026-02-22T19:29:18Z</dcterms:modified>
</cp:coreProperties>
</file>
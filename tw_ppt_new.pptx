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2" r:id="rId6"/>
    <p:sldId id="275" r:id="rId7"/>
    <p:sldId id="276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4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14439-D8A7-4659-A640-12C8A1DD6CBD}" v="5" dt="2025-11-18T08:33:39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Gupta" userId="22eaf85f26b22716" providerId="LiveId" clId="{19514A4A-356B-49B5-93CC-796712384065}"/>
    <pc:docChg chg="custSel addSld modSld">
      <pc:chgData name="Shreyansh Gupta" userId="22eaf85f26b22716" providerId="LiveId" clId="{19514A4A-356B-49B5-93CC-796712384065}" dt="2025-11-18T08:34:08.943" v="31" actId="1076"/>
      <pc:docMkLst>
        <pc:docMk/>
      </pc:docMkLst>
      <pc:sldChg chg="modSp new mod">
        <pc:chgData name="Shreyansh Gupta" userId="22eaf85f26b22716" providerId="LiveId" clId="{19514A4A-356B-49B5-93CC-796712384065}" dt="2025-11-18T08:25:12.326" v="17" actId="27636"/>
        <pc:sldMkLst>
          <pc:docMk/>
          <pc:sldMk cId="3249231466" sldId="274"/>
        </pc:sldMkLst>
        <pc:spChg chg="mod">
          <ac:chgData name="Shreyansh Gupta" userId="22eaf85f26b22716" providerId="LiveId" clId="{19514A4A-356B-49B5-93CC-796712384065}" dt="2025-11-18T08:24:13.938" v="2" actId="207"/>
          <ac:spMkLst>
            <pc:docMk/>
            <pc:sldMk cId="3249231466" sldId="274"/>
            <ac:spMk id="2" creationId="{E56C891C-EA3D-0EF2-5064-1C2F6F4B7A96}"/>
          </ac:spMkLst>
        </pc:spChg>
        <pc:spChg chg="mod">
          <ac:chgData name="Shreyansh Gupta" userId="22eaf85f26b22716" providerId="LiveId" clId="{19514A4A-356B-49B5-93CC-796712384065}" dt="2025-11-18T08:25:12.326" v="17" actId="27636"/>
          <ac:spMkLst>
            <pc:docMk/>
            <pc:sldMk cId="3249231466" sldId="274"/>
            <ac:spMk id="3" creationId="{76F0780A-A747-BED9-BFC7-1E9B7364306D}"/>
          </ac:spMkLst>
        </pc:spChg>
      </pc:sldChg>
      <pc:sldChg chg="modSp new mod">
        <pc:chgData name="Shreyansh Gupta" userId="22eaf85f26b22716" providerId="LiveId" clId="{19514A4A-356B-49B5-93CC-796712384065}" dt="2025-11-18T08:33:58.116" v="30" actId="20577"/>
        <pc:sldMkLst>
          <pc:docMk/>
          <pc:sldMk cId="1660927921" sldId="275"/>
        </pc:sldMkLst>
        <pc:spChg chg="mod">
          <ac:chgData name="Shreyansh Gupta" userId="22eaf85f26b22716" providerId="LiveId" clId="{19514A4A-356B-49B5-93CC-796712384065}" dt="2025-11-18T08:32:49.676" v="20" actId="207"/>
          <ac:spMkLst>
            <pc:docMk/>
            <pc:sldMk cId="1660927921" sldId="275"/>
            <ac:spMk id="2" creationId="{A55ECECC-F098-E9FB-75BA-6B9BCE7F7EF3}"/>
          </ac:spMkLst>
        </pc:spChg>
        <pc:spChg chg="mod">
          <ac:chgData name="Shreyansh Gupta" userId="22eaf85f26b22716" providerId="LiveId" clId="{19514A4A-356B-49B5-93CC-796712384065}" dt="2025-11-18T08:33:58.116" v="30" actId="20577"/>
          <ac:spMkLst>
            <pc:docMk/>
            <pc:sldMk cId="1660927921" sldId="275"/>
            <ac:spMk id="3" creationId="{634AFAB8-CAB1-6901-EFE3-66F821531222}"/>
          </ac:spMkLst>
        </pc:spChg>
      </pc:sldChg>
      <pc:sldChg chg="modSp new mod">
        <pc:chgData name="Shreyansh Gupta" userId="22eaf85f26b22716" providerId="LiveId" clId="{19514A4A-356B-49B5-93CC-796712384065}" dt="2025-11-18T08:34:08.943" v="31" actId="1076"/>
        <pc:sldMkLst>
          <pc:docMk/>
          <pc:sldMk cId="3212657530" sldId="276"/>
        </pc:sldMkLst>
        <pc:spChg chg="mod">
          <ac:chgData name="Shreyansh Gupta" userId="22eaf85f26b22716" providerId="LiveId" clId="{19514A4A-356B-49B5-93CC-796712384065}" dt="2025-11-18T08:34:08.943" v="31" actId="1076"/>
          <ac:spMkLst>
            <pc:docMk/>
            <pc:sldMk cId="3212657530" sldId="276"/>
            <ac:spMk id="3" creationId="{EECCE8F0-6C36-6CEA-41CF-521C11C7E41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8A9F-3D44-8FA1-4195-1BB256A71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A31ED-0FD8-182A-BD8C-FDA4E992E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CFC32-1E5B-4EB5-4EF6-94012EB5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AEBD-1253-633D-AE53-1D2D1F8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E9FB-41DA-BFAE-539D-65E7C367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53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235A-1238-F270-ACCB-71D125E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6FFA-AC4A-805C-BE0A-DC09584DF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92EF2-8007-DE15-CE3D-0F048740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071E-BF5E-2190-F834-8466D2B0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2A03-592A-2798-42B6-CC440755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5463-7266-DA4A-891A-62DAC02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A3C59-B5C1-9EB4-C036-91658DECA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DE32-C462-15C0-E228-6738DAD6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3BFC0-4102-D467-E434-DC1EE70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B592-324D-A45E-41AC-DF71C2D4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27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6FA1-CD79-AC71-75D1-C146A92C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D928-A384-453A-3F4B-3C5B4990B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DBA35-E537-9ED1-38D9-4F684D757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DB43A-F401-9FFB-5F15-202C1D74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06793-85D9-CF57-E5AF-C875746D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853A1-FB9B-2B2C-C5C6-6CF8C44D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6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708D-E964-74CA-7B2B-22AE983A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36A0-5B24-D439-F681-2A50411A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2C5E6-EBDD-2269-19B8-6662DC0C5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6041F-1229-BF80-243B-B0C125661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40736-1B8A-6E2B-77CC-B59398516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36309-F7ED-B0F0-D3E6-38790A06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83E8D-6D5E-C4AC-AACA-299E98F5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CEBFD-F72A-559D-B7F0-01EA4043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33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FF60-1C48-D8C9-55F4-78CBA157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BEA53-01EE-266C-C7EB-DD36D9C0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2F8F2-8B27-BEDE-E570-216A3363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D72AA-2E89-811E-E921-4A9F2B7E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4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0B514-418F-4FDB-75E5-CE4D1FEC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7390-6C37-3CEC-86A8-84C978C6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E8EC-B5FC-BF4B-B28F-989C92E0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22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980D-B1C4-599A-8404-8A7BCF843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02CD-B20D-A9CB-60F1-05055CE45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71FB6-9C06-C9D0-88A9-106F12C2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C010E-7063-1E6B-819C-BDCCB842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4B2DD-1654-9497-98C0-8E22A75B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658A-A8C8-17D5-206D-940B0A24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0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FC25-D562-87EC-CBDA-10396DC8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28BE6-E654-9989-D6FF-B9FB92918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7388-87FF-EC9E-6E0D-EFCF45667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D79C1-C19C-B3E5-35AB-5AE99D09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021EC-9A5A-F4C3-73EB-9332F559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7F28D-860D-6AB3-AB07-D814401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0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241F-FA7B-5D44-0099-1E2CB8D4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13AC4-99C2-6140-FB30-4575B34CB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5F1A-F4A2-F15C-3C7F-EEE448F7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8E63-B4C1-E553-C8D3-83ED9AEB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C98B-FDF0-7CB7-F6C3-29052B70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4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295E2-D4FF-728A-173E-B28D6F34D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C4629-05A0-162B-C4EC-035A9644F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C7B2E-BF96-F8A9-1038-6A9ACA05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88583-D2DE-4CDC-AE03-528ECAE0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7EB5-6A7F-B564-036E-186598A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D81A8-18F5-A9C9-9D65-FF224E34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DF4EC-38FB-042A-6F8F-712FDFCD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18F48-D796-124F-9771-501E58DB1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047C3-DED0-4E84-BF6B-66A2F85B059B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1C3B0-2306-F333-04CD-A9AA65987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65C6C-DB7D-F189-44CE-62C83152B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48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687C-A3CB-8C6B-C513-9DA3BDE0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985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</a:rPr>
              <a:t>Building the Glass Box:</a:t>
            </a:r>
            <a:br>
              <a:rPr lang="en-US" sz="4800" b="1" dirty="0">
                <a:solidFill>
                  <a:srgbClr val="002060"/>
                </a:solidFill>
              </a:rPr>
            </a:br>
            <a:r>
              <a:rPr lang="en-US" sz="4800" b="1" dirty="0">
                <a:solidFill>
                  <a:srgbClr val="002060"/>
                </a:solidFill>
              </a:rPr>
              <a:t>A Human-Centered Framework for Explainable AI in Cyber-Physical Systems</a:t>
            </a:r>
            <a:br>
              <a:rPr lang="en-US" sz="4800" b="1" dirty="0">
                <a:solidFill>
                  <a:srgbClr val="002060"/>
                </a:solidFill>
              </a:rPr>
            </a:br>
            <a:endParaRPr lang="en-IN" sz="4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0CB0-F752-D88C-E906-22741D68C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3605263"/>
            <a:ext cx="10515600" cy="4351338"/>
          </a:xfrm>
        </p:spPr>
        <p:txBody>
          <a:bodyPr/>
          <a:lstStyle/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Subhranshu Panda (B122117)</a:t>
            </a:r>
          </a:p>
          <a:p>
            <a:pPr marL="0" indent="0" algn="ctr">
              <a:buNone/>
            </a:pPr>
            <a:r>
              <a:rPr lang="en-IN" dirty="0"/>
              <a:t>Shreyansh Gupta (B122109)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2400" i="1" dirty="0"/>
              <a:t>Guide: Prof. Bharati Mishra</a:t>
            </a:r>
            <a:br>
              <a:rPr lang="en-IN" sz="2400" i="1" dirty="0"/>
            </a:br>
            <a:r>
              <a:rPr lang="en-IN" sz="2400" i="1" dirty="0"/>
              <a:t>IIIT Bhubaneswar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5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4280-1FB1-ACBF-209B-1918EA5A1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Contents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2168-4842-D966-B7E2-632C658A5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Introduction: The "Black Box" Crisis</a:t>
            </a:r>
          </a:p>
          <a:p>
            <a:r>
              <a:rPr lang="en-US" dirty="0"/>
              <a:t>The Solution: Explainable AI (XAI)</a:t>
            </a:r>
          </a:p>
          <a:p>
            <a:r>
              <a:rPr lang="en-US" dirty="0"/>
              <a:t>Literature Survey &amp; Key Gaps</a:t>
            </a:r>
          </a:p>
          <a:p>
            <a:r>
              <a:rPr lang="en-US" dirty="0"/>
              <a:t>Motivation</a:t>
            </a:r>
          </a:p>
          <a:p>
            <a:r>
              <a:rPr lang="en-US" dirty="0"/>
              <a:t>Project Objectives</a:t>
            </a:r>
          </a:p>
          <a:p>
            <a:r>
              <a:rPr lang="en-US" dirty="0"/>
              <a:t>Methodology: A 3-Phase Framework</a:t>
            </a:r>
          </a:p>
          <a:p>
            <a:r>
              <a:rPr lang="en-US" dirty="0"/>
              <a:t>Recommendations &amp; Future Research</a:t>
            </a:r>
          </a:p>
          <a:p>
            <a:r>
              <a:rPr lang="en-US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29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C568-6DFA-C3F6-00DE-3FC8CBE22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Introduction: The "Black Box" Crisis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D1835-EE3C-2C23-3C40-D7E79CBD7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Synergy:</a:t>
            </a:r>
            <a:r>
              <a:rPr lang="en-US" dirty="0"/>
              <a:t> Artificial Intelligence (AI) + Cyber-Physical Systems (CPS) are driving the new industrial revolution (smart grids, autonomous cars).</a:t>
            </a:r>
          </a:p>
          <a:p>
            <a:r>
              <a:rPr lang="en-US" b="1" dirty="0"/>
              <a:t>The Problem:</a:t>
            </a:r>
            <a:r>
              <a:rPr lang="en-US" dirty="0"/>
              <a:t> The best AI models (Deep Learning) are "Black Boxes." We can't see </a:t>
            </a:r>
            <a:r>
              <a:rPr lang="en-US" u="sng" dirty="0"/>
              <a:t>why</a:t>
            </a:r>
            <a:r>
              <a:rPr lang="en-US" dirty="0"/>
              <a:t> they make a specific decision.</a:t>
            </a:r>
          </a:p>
          <a:p>
            <a:r>
              <a:rPr lang="en-US" b="1" dirty="0"/>
              <a:t>The Crisis:</a:t>
            </a:r>
            <a:r>
              <a:rPr lang="en-US" dirty="0"/>
              <a:t> In high-stakes, safety-critical systems, this is a catastrophic risk.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If an autonomous car crashes or a medical device errs, we cannot answer: </a:t>
            </a:r>
            <a:r>
              <a:rPr lang="en-US" b="1" dirty="0"/>
              <a:t>"Why did this happen?"</a:t>
            </a:r>
            <a:endParaRPr lang="en-US" dirty="0"/>
          </a:p>
          <a:p>
            <a:r>
              <a:rPr lang="en-US" dirty="0"/>
              <a:t>This is a fundamental failure of safety, trust, and legal accountability.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709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92AE-37A1-713A-3B56-95CFA737A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7819" y="29497"/>
            <a:ext cx="9144000" cy="109972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The Solution: Explainable AI (XAI)</a:t>
            </a:r>
            <a:endParaRPr lang="en-IN" sz="4400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E30F1-C77D-DD3F-4470-BD57F4FC7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748" y="1753573"/>
            <a:ext cx="10274709" cy="4145782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XAI provides the </a:t>
            </a:r>
            <a:r>
              <a:rPr lang="en-US" sz="2800" b="1" dirty="0"/>
              <a:t>"Glass Box"</a:t>
            </a:r>
            <a:r>
              <a:rPr lang="en-US" sz="2800" dirty="0"/>
              <a:t> needed to peer inside the "Black Box."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dirty="0"/>
              <a:t>It's a set of methods that provide clear, human-understandable explanations for an AI's rationale.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Goal:</a:t>
            </a:r>
            <a:r>
              <a:rPr lang="en-US" sz="2800" dirty="0"/>
              <a:t> Build trust, audit for bias, and ensure safety.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78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A57C-6145-2A44-19D1-37EB46B4C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6BF404F-AC66-04F6-A62D-F1E6800817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10" y="365125"/>
            <a:ext cx="6400980" cy="5925908"/>
          </a:xfrm>
        </p:spPr>
      </p:pic>
    </p:spTree>
    <p:extLst>
      <p:ext uri="{BB962C8B-B14F-4D97-AF65-F5344CB8AC3E}">
        <p14:creationId xmlns:p14="http://schemas.microsoft.com/office/powerpoint/2010/main" val="3372296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CECC-F098-E9FB-75BA-6B9BCE7F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Literature Survey: Key Papers &amp; Frameworks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FAB8-CAB1-6901-EFE3-66F821531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Industrial &amp; Medical:</a:t>
            </a:r>
            <a:endParaRPr lang="en-US" dirty="0"/>
          </a:p>
          <a:p>
            <a:r>
              <a:rPr lang="en-US" b="1" dirty="0"/>
              <a:t>Oliveira et al. [3]: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Surveyed XAI for fault diagnosis and process optimization in the chemical industry.</a:t>
            </a:r>
          </a:p>
          <a:p>
            <a:r>
              <a:rPr lang="en-US" b="1" dirty="0" err="1"/>
              <a:t>Alimonda</a:t>
            </a:r>
            <a:r>
              <a:rPr lang="en-US" b="1" dirty="0"/>
              <a:t> et al. [4]: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Proposed the "CLIX-M" framework to evaluate XAI in medicine, focusing on "Actionability" and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927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CEE2-C1C7-B62B-92E7-B1142311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CE8F0-6C36-6CEA-41CF-521C11C7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9" y="102790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Cybersecurity:</a:t>
            </a:r>
            <a:endParaRPr lang="en-IN" dirty="0"/>
          </a:p>
          <a:p>
            <a:r>
              <a:rPr lang="en-IN" b="1" dirty="0"/>
              <a:t>Sivamohan et al. [5]: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Created a hybrid XAI-IDS (CNN + SHAP + Rules) to detect attacks.</a:t>
            </a:r>
          </a:p>
          <a:p>
            <a:r>
              <a:rPr lang="en-IN" b="1" dirty="0" err="1"/>
              <a:t>Almuqren</a:t>
            </a:r>
            <a:r>
              <a:rPr lang="en-IN" b="1" dirty="0"/>
              <a:t> et al. [6]: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Developed the "Explainable Resiliency Graph" (ERG) to model how cyber-attacks cause physical failures.</a:t>
            </a:r>
          </a:p>
          <a:p>
            <a:r>
              <a:rPr lang="en-IN" b="1" dirty="0"/>
              <a:t>Patil et al. [7]: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Designed the "TRUST" XAI model for high-speed industrial IoT data.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65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0D38-83E8-FFC4-E7A0-F0205648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Literature Survey: What is a CPS?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B186B-3871-F558-8DB6-DE9D7FC75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Cyber-Physical System (CPS) integrates:</a:t>
            </a:r>
          </a:p>
          <a:p>
            <a:pPr lvl="1"/>
            <a:r>
              <a:rPr lang="en-US" b="1" dirty="0"/>
              <a:t>Cyber:</a:t>
            </a:r>
            <a:r>
              <a:rPr lang="en-US" dirty="0"/>
              <a:t> Computing, Networking, Control</a:t>
            </a:r>
          </a:p>
          <a:p>
            <a:pPr lvl="1"/>
            <a:r>
              <a:rPr lang="en-US" b="1" dirty="0"/>
              <a:t>Physical:</a:t>
            </a:r>
            <a:r>
              <a:rPr lang="en-US" dirty="0"/>
              <a:t> Sensors, Actuators, Physical Processes</a:t>
            </a:r>
          </a:p>
          <a:p>
            <a:r>
              <a:rPr lang="en-US" dirty="0"/>
              <a:t>This is the foundation of Industry 4.0 ("Smart Factories").</a:t>
            </a:r>
          </a:p>
          <a:p>
            <a:r>
              <a:rPr lang="en-US" dirty="0"/>
              <a:t>Now evolving to </a:t>
            </a:r>
            <a:r>
              <a:rPr lang="en-US" b="1" dirty="0"/>
              <a:t>Industry 5.0</a:t>
            </a:r>
            <a:r>
              <a:rPr lang="en-US" dirty="0"/>
              <a:t>, which focuses on human-centric collaboration.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194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A22A-6C2A-E39B-4276-92B68D6F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Literature Survey: Key Applications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8E072-2C81-F738-C108-04DC4484A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Industrial &amp; Manufacturing</a:t>
            </a:r>
            <a:endParaRPr lang="en-US" dirty="0"/>
          </a:p>
          <a:p>
            <a:pPr lvl="1"/>
            <a:r>
              <a:rPr lang="en-US" dirty="0"/>
              <a:t>Predictive Maintenance: Explaining </a:t>
            </a:r>
            <a:r>
              <a:rPr lang="en-US" u="sng" dirty="0"/>
              <a:t>why</a:t>
            </a:r>
            <a:r>
              <a:rPr lang="en-US" dirty="0"/>
              <a:t> a machine is predicted to fail.</a:t>
            </a:r>
          </a:p>
          <a:p>
            <a:r>
              <a:rPr lang="en-US" b="1" dirty="0"/>
              <a:t>Medical CPS</a:t>
            </a:r>
            <a:endParaRPr lang="en-US" dirty="0"/>
          </a:p>
          <a:p>
            <a:pPr lvl="1"/>
            <a:r>
              <a:rPr lang="en-US" dirty="0"/>
              <a:t>Analyzing signals (ECG, EEG) and explaining the diagnosis to build clinician trust.</a:t>
            </a:r>
          </a:p>
          <a:p>
            <a:r>
              <a:rPr lang="en-US" b="1" dirty="0"/>
              <a:t>Cybersecurity</a:t>
            </a:r>
            <a:endParaRPr lang="en-US" dirty="0"/>
          </a:p>
          <a:p>
            <a:pPr lvl="1"/>
            <a:r>
              <a:rPr lang="en-US" dirty="0"/>
              <a:t>Explaining </a:t>
            </a:r>
            <a:r>
              <a:rPr lang="en-US" u="sng" dirty="0"/>
              <a:t>why</a:t>
            </a:r>
            <a:r>
              <a:rPr lang="en-US" dirty="0"/>
              <a:t> an Intrusion Detection System (IDS) flagged an activity as malicious.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658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FE728-0422-12D3-C158-2C087A84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B46CD7-EC5F-2703-C87E-43A29682A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659" y="966584"/>
            <a:ext cx="9362682" cy="4323171"/>
          </a:xfrm>
        </p:spPr>
      </p:pic>
    </p:spTree>
    <p:extLst>
      <p:ext uri="{BB962C8B-B14F-4D97-AF65-F5344CB8AC3E}">
        <p14:creationId xmlns:p14="http://schemas.microsoft.com/office/powerpoint/2010/main" val="233032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2A01-EA0D-08BC-6FD6-82D0B8CF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67" y="21851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The Core Research Gaps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9F8C2-5FFF-A1EF-156A-0FFC3B6D8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267" y="1400792"/>
            <a:ext cx="10515600" cy="548599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Our research found that current XAI methods are failing in two critical ways:</a:t>
            </a:r>
          </a:p>
          <a:p>
            <a:r>
              <a:rPr lang="en-US" b="1" dirty="0"/>
              <a:t>1. The Technical Gap:</a:t>
            </a:r>
            <a:br>
              <a:rPr lang="en-US" b="1" dirty="0"/>
            </a:br>
            <a:r>
              <a:rPr lang="en-US" b="1" dirty="0"/>
              <a:t>Lack of Context-</a:t>
            </a:r>
            <a:r>
              <a:rPr lang="en-US" b="1" dirty="0" err="1"/>
              <a:t>Awareness</a:t>
            </a:r>
            <a:r>
              <a:rPr lang="en-US" dirty="0" err="1"/>
              <a:t>XAI</a:t>
            </a:r>
            <a:r>
              <a:rPr lang="en-US" dirty="0"/>
              <a:t> is "context-agnostic." It can explain the </a:t>
            </a:r>
            <a:r>
              <a:rPr lang="en-US" u="sng" dirty="0"/>
              <a:t>model</a:t>
            </a:r>
            <a:r>
              <a:rPr lang="en-US" dirty="0"/>
              <a:t>, but not the </a:t>
            </a:r>
            <a:r>
              <a:rPr lang="en-US" u="sng" dirty="0"/>
              <a:t>system in its environment</a:t>
            </a:r>
            <a:r>
              <a:rPr lang="en-US" dirty="0"/>
              <a:t>.</a:t>
            </a:r>
          </a:p>
          <a:p>
            <a:r>
              <a:rPr lang="en-US" dirty="0"/>
              <a:t>It can't answer: "Why did the drone fail </a:t>
            </a:r>
            <a:r>
              <a:rPr lang="en-US" u="sng" dirty="0"/>
              <a:t>today</a:t>
            </a:r>
            <a:r>
              <a:rPr lang="en-US" dirty="0"/>
              <a:t> but not </a:t>
            </a:r>
            <a:r>
              <a:rPr lang="en-US" u="sng" dirty="0"/>
              <a:t>yesterday</a:t>
            </a:r>
            <a:r>
              <a:rPr lang="en-US" dirty="0"/>
              <a:t>?" (e.g., due to high winds</a:t>
            </a:r>
            <a:r>
              <a:rPr lang="en-US" dirty="0" smtClean="0"/>
              <a:t>).</a:t>
            </a:r>
          </a:p>
          <a:p>
            <a:endParaRPr lang="en-US" b="1" dirty="0"/>
          </a:p>
          <a:p>
            <a:r>
              <a:rPr lang="en-US" b="1" dirty="0"/>
              <a:t>2. The Evaluation Gap:</a:t>
            </a:r>
            <a:br>
              <a:rPr lang="en-US" b="1" dirty="0"/>
            </a:br>
            <a:r>
              <a:rPr lang="en-US" b="1" dirty="0"/>
              <a:t>Lack of </a:t>
            </a:r>
            <a:r>
              <a:rPr lang="en-US" b="1" dirty="0" err="1"/>
              <a:t>Standards</a:t>
            </a:r>
            <a:r>
              <a:rPr lang="en-US" dirty="0" err="1"/>
              <a:t>How</a:t>
            </a:r>
            <a:r>
              <a:rPr lang="en-US" dirty="0"/>
              <a:t> do we know if an explanation is "good"?</a:t>
            </a:r>
          </a:p>
          <a:p>
            <a:r>
              <a:rPr lang="en-US" dirty="0"/>
              <a:t>The field has no formalized, human-centered metrics.</a:t>
            </a:r>
          </a:p>
          <a:p>
            <a:r>
              <a:rPr lang="en-US" dirty="0"/>
              <a:t>Most evaluations are based on developer intuition, not on formal user studies.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6922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15A7-6D18-5E82-ABEA-1AEB3B3C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Motivation: Why Solve This?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813F-5952-FBEF-8E62-74E5EE7C5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b="1" dirty="0"/>
              <a:t>Trust:</a:t>
            </a:r>
            <a:r>
              <a:rPr lang="en-US" dirty="0"/>
              <a:t> An estimated 90% of industrial AI models fail deployment due to a lack of trust.</a:t>
            </a:r>
          </a:p>
          <a:p>
            <a:r>
              <a:rPr lang="en-US" b="1" dirty="0"/>
              <a:t>Safety &amp; Accountability:</a:t>
            </a:r>
            <a:r>
              <a:rPr lang="en-US" dirty="0"/>
              <a:t> XAI provides the "audit trail" needed to understand and prevent accidents.</a:t>
            </a:r>
          </a:p>
          <a:p>
            <a:r>
              <a:rPr lang="en-US" b="1" dirty="0"/>
              <a:t>Collaboration:</a:t>
            </a:r>
            <a:r>
              <a:rPr lang="en-US" dirty="0"/>
              <a:t> XAI is the "common language" required for the human-centric Industry 5.0.</a:t>
            </a:r>
          </a:p>
          <a:p>
            <a:r>
              <a:rPr lang="en-US" b="1" dirty="0"/>
              <a:t>Legal:</a:t>
            </a:r>
            <a:r>
              <a:rPr lang="en-US" dirty="0"/>
              <a:t> New laws, like the </a:t>
            </a:r>
            <a:r>
              <a:rPr lang="en-US" b="1" dirty="0"/>
              <a:t>EU AI Act 2024</a:t>
            </a:r>
            <a:r>
              <a:rPr lang="en-US" dirty="0"/>
              <a:t>, now </a:t>
            </a:r>
            <a:r>
              <a:rPr lang="en-US" u="sng" dirty="0"/>
              <a:t>mandate</a:t>
            </a:r>
            <a:r>
              <a:rPr lang="en-US" dirty="0"/>
              <a:t> transparency for high-risk AI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723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3FD63-2A9E-E062-0D9B-F5EFF803E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Project Objectives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D3C68-B00B-81FC-E2DB-BAA20EE7A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these gaps, our objectives were:</a:t>
            </a:r>
          </a:p>
          <a:p>
            <a:r>
              <a:rPr lang="en-US" dirty="0"/>
              <a:t>To systematically review the challenges of XAI in CPS.</a:t>
            </a:r>
          </a:p>
          <a:p>
            <a:r>
              <a:rPr lang="en-US" dirty="0"/>
              <a:t>To analyze the two primary gaps: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Context-Awareness</a:t>
            </a:r>
            <a:r>
              <a:rPr lang="en-US" dirty="0"/>
              <a:t> (Technical Gap)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b="1" dirty="0"/>
              <a:t>Evaluation Standards</a:t>
            </a:r>
            <a:r>
              <a:rPr lang="en-US" dirty="0"/>
              <a:t> (Human-Centered Gap)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To propose a novel </a:t>
            </a:r>
            <a:r>
              <a:rPr lang="en-US" b="1" dirty="0"/>
              <a:t>Human-Centered Methodological Framework</a:t>
            </a:r>
            <a:r>
              <a:rPr lang="en-US" dirty="0"/>
              <a:t> to directly solve these gaps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13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F73F-8BA2-BF56-B548-B3929AE7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394" y="26680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Methodology: A 3-Phase Framework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57E78-3C32-D147-BEBA-4E356D43C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48" y="1825625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We propose a structured process to build trustworthy XAI that solves both gaps.</a:t>
            </a:r>
          </a:p>
          <a:p>
            <a:r>
              <a:rPr lang="en-US" b="1" dirty="0"/>
              <a:t> Phase 1: System Design &amp; Requirements Analysis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Builds "explainability-by-design" from the start.</a:t>
            </a:r>
          </a:p>
          <a:p>
            <a:r>
              <a:rPr lang="en-US" b="1" dirty="0"/>
              <a:t> Phase 2: Human-Centered Evaluation (HCE)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Directly solves the "Evaluation Gap" by measuring an explanation's utility.</a:t>
            </a:r>
          </a:p>
          <a:p>
            <a:r>
              <a:rPr lang="en-US" b="1" dirty="0"/>
              <a:t> Phase 3: Context-Awareness Testing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Directly solves the "Technical Gap" by testing against real-world context.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578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C4FD-63A7-4559-B0AF-DCA0DD671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Phase 1: System Design &amp; Requirements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50D49-3608-6B6A-903E-DA54DE30C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99483"/>
            <a:ext cx="10515600" cy="4351338"/>
          </a:xfrm>
        </p:spPr>
        <p:txBody>
          <a:bodyPr/>
          <a:lstStyle/>
          <a:p>
            <a:r>
              <a:rPr lang="en-US" dirty="0"/>
              <a:t>We don't "add" XAI at the end. We design for it from the start.</a:t>
            </a:r>
          </a:p>
          <a:p>
            <a:r>
              <a:rPr lang="en-US" dirty="0"/>
              <a:t>This framework defines </a:t>
            </a:r>
            <a:r>
              <a:rPr lang="en-US" u="sng" dirty="0"/>
              <a:t>who</a:t>
            </a:r>
            <a:r>
              <a:rPr lang="en-US" dirty="0"/>
              <a:t> needs the explanation, </a:t>
            </a:r>
            <a:r>
              <a:rPr lang="en-US" u="sng" dirty="0"/>
              <a:t>what</a:t>
            </a:r>
            <a:r>
              <a:rPr lang="en-US" dirty="0"/>
              <a:t> data is needed, and </a:t>
            </a:r>
            <a:r>
              <a:rPr lang="en-US" u="sng" dirty="0"/>
              <a:t>how</a:t>
            </a:r>
            <a:r>
              <a:rPr lang="en-US" dirty="0"/>
              <a:t> it will be delivered.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2AC04-38B0-4F02-7486-473CDF5B1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914" y="2925046"/>
            <a:ext cx="7840169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183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90E7B-26FA-991C-82F3-7794EF016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Phase 2: Human-Centered Evaluation (HCE)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567FF-2442-25B6-BDD5-BAE6D2C67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phase measures if an explanation is good for a human, using formal user studies to test: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b="1" dirty="0"/>
              <a:t> </a:t>
            </a:r>
            <a:r>
              <a:rPr lang="en-US" sz="2800" b="1" dirty="0"/>
              <a:t>Trust:</a:t>
            </a:r>
            <a:r>
              <a:rPr lang="en-US" sz="2800" dirty="0"/>
              <a:t> Does it build appropriate confidence?</a:t>
            </a:r>
          </a:p>
          <a:p>
            <a:pPr lvl="1"/>
            <a:r>
              <a:rPr lang="en-US" sz="2800" b="1" dirty="0"/>
              <a:t> Objective Understanding:</a:t>
            </a:r>
            <a:r>
              <a:rPr lang="en-US" sz="2800" dirty="0"/>
              <a:t> Can the user demonstrably predict the AI's next move?</a:t>
            </a:r>
          </a:p>
          <a:p>
            <a:pPr lvl="1"/>
            <a:r>
              <a:rPr lang="en-US" sz="2800" b="1" dirty="0"/>
              <a:t> Actionability:</a:t>
            </a:r>
            <a:r>
              <a:rPr lang="en-US" sz="2800" dirty="0"/>
              <a:t> Can the user make a correct and effective decision based on the explanation?</a:t>
            </a:r>
          </a:p>
          <a:p>
            <a:pPr lvl="1"/>
            <a:r>
              <a:rPr lang="en-US" sz="2800" b="1" dirty="0"/>
              <a:t> Reasonableness:</a:t>
            </a:r>
            <a:r>
              <a:rPr lang="en-US" sz="2800" dirty="0"/>
              <a:t> Does the explanation make sense to a domain expert</a:t>
            </a:r>
            <a:r>
              <a:rPr lang="en-US" dirty="0"/>
              <a:t>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1702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F1DD7-44C0-E072-356A-CC46E217D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Phase 3: Context-Awareness Testing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1635C-9CE4-B921-5109-79BF084FB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This phase tests if the explanation understands the real world, using </a:t>
            </a:r>
            <a:r>
              <a:rPr lang="en-US" sz="3200" b="1" dirty="0"/>
              <a:t>Context-Aware Counterfactual Testing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Example Query:</a:t>
            </a:r>
            <a:r>
              <a:rPr lang="en-US" dirty="0"/>
              <a:t> "Why did the drone's battery fail </a:t>
            </a:r>
            <a:r>
              <a:rPr lang="en-US" u="sng" dirty="0"/>
              <a:t>today</a:t>
            </a:r>
            <a:r>
              <a:rPr lang="en-US" dirty="0"/>
              <a:t> but not </a:t>
            </a:r>
            <a:r>
              <a:rPr lang="en-US" u="sng" dirty="0"/>
              <a:t>yesterday</a:t>
            </a:r>
            <a:r>
              <a:rPr lang="en-US" dirty="0"/>
              <a:t>?“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BAD Explanation (Context-Agnostic):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"The battery failed because '</a:t>
            </a:r>
            <a:r>
              <a:rPr lang="en-US" dirty="0" err="1"/>
              <a:t>Discharge_Rate</a:t>
            </a:r>
            <a:r>
              <a:rPr lang="en-US" dirty="0"/>
              <a:t>' exceeded its threshold."</a:t>
            </a:r>
            <a:br>
              <a:rPr lang="en-US" dirty="0"/>
            </a:br>
            <a:r>
              <a:rPr lang="en-US" i="1" dirty="0"/>
              <a:t>(This is technically correct, but useless.)</a:t>
            </a:r>
            <a:endParaRPr lang="en-US" dirty="0"/>
          </a:p>
          <a:p>
            <a:r>
              <a:rPr lang="en-US" b="1" dirty="0"/>
              <a:t>GOOD Explanation (Context-Aware):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"...This was caused by the system compensating for </a:t>
            </a:r>
            <a:r>
              <a:rPr lang="en-US" b="1" dirty="0"/>
              <a:t>high winds</a:t>
            </a:r>
            <a:r>
              <a:rPr lang="en-US" dirty="0"/>
              <a:t> (a physical context) which were not present yesterday."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1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7F7E-6550-3794-8A0E-4962AE13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Conclusion &amp; Recommendations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9CE4-2AB0-6FE9-D66A-820512CE5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Conclusion: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"Black Box" is the barrier to adopting AI in critical systems.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Our 3-phase framework provides a practical path to build the "Glass Box," enabling a future that is trustworthy, context-aware, and human-centric.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Recommendations: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We need </a:t>
            </a:r>
            <a:r>
              <a:rPr lang="en-US" u="sng" dirty="0"/>
              <a:t>Formalized Standards </a:t>
            </a:r>
            <a:r>
              <a:rPr lang="en-US" dirty="0"/>
              <a:t>(metrics, datasets) for XAI research.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Future work should explore </a:t>
            </a:r>
            <a:r>
              <a:rPr lang="en-US" u="sng" dirty="0"/>
              <a:t>Self-Explainable Systems </a:t>
            </a:r>
            <a:r>
              <a:rPr lang="en-US" dirty="0"/>
              <a:t>and </a:t>
            </a:r>
            <a:r>
              <a:rPr lang="en-US" u="sng" dirty="0"/>
              <a:t>Multisensory Explanations </a:t>
            </a:r>
            <a:r>
              <a:rPr lang="en-US" dirty="0"/>
              <a:t>(e.g., sound, haptics).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473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C891C-EA3D-0EF2-5064-1C2F6F4B7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Key References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0780A-A747-BED9-BFC7-1E9B73643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65520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IN" dirty="0"/>
              <a:t>[1] C. S. Wickramasinghe, K. Amarasinghe, D. L. Marino, C. Rieger, and M. Manic, "Explainable unsupervised machine learning for cyber-physical systems," \</a:t>
            </a:r>
            <a:r>
              <a:rPr lang="en-IN" dirty="0" err="1"/>
              <a:t>textit</a:t>
            </a:r>
            <a:r>
              <a:rPr lang="en-IN" dirty="0"/>
              <a:t>{IEEE Access}, vol. 9, 2021.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[3] L. M. C. Oliveira, R. Dias, et al., "Artificial intelligence and cyber-physical systems: A review and perspectives for the future in the chemical industry," \</a:t>
            </a:r>
            <a:r>
              <a:rPr lang="en-IN" dirty="0" err="1"/>
              <a:t>textit</a:t>
            </a:r>
            <a:r>
              <a:rPr lang="en-IN" dirty="0"/>
              <a:t>{AI}, vol. 2, no. 3, 2021.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[2] S. S. Jha, "An overview on the explainability of cyber-physical systems," in \</a:t>
            </a:r>
            <a:r>
              <a:rPr lang="en-IN" dirty="0" err="1"/>
              <a:t>textit</a:t>
            </a:r>
            <a:r>
              <a:rPr lang="en-IN" dirty="0"/>
              <a:t>{Proc. Int. FLAIRS Conf.}, vol. 35, 2022.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[4] N. </a:t>
            </a:r>
            <a:r>
              <a:rPr lang="en-IN" dirty="0" err="1"/>
              <a:t>Alimonda</a:t>
            </a:r>
            <a:r>
              <a:rPr lang="en-IN" dirty="0"/>
              <a:t>, L. </a:t>
            </a:r>
            <a:r>
              <a:rPr lang="en-IN" dirty="0" err="1"/>
              <a:t>Guidotto</a:t>
            </a:r>
            <a:r>
              <a:rPr lang="en-IN" dirty="0"/>
              <a:t>, et al., "A survey on XAI for cyber physical systems in medicine," in \</a:t>
            </a:r>
            <a:r>
              <a:rPr lang="en-IN" dirty="0" err="1"/>
              <a:t>textit</a:t>
            </a:r>
            <a:r>
              <a:rPr lang="en-IN" dirty="0"/>
              <a:t>{Proc. IEEE Int. Conf. </a:t>
            </a:r>
            <a:r>
              <a:rPr lang="en-IN" dirty="0" err="1"/>
              <a:t>Metrol</a:t>
            </a:r>
            <a:r>
              <a:rPr lang="en-IN" dirty="0"/>
              <a:t>. Extended Reality, </a:t>
            </a:r>
            <a:r>
              <a:rPr lang="en-IN" dirty="0" err="1"/>
              <a:t>Artif</a:t>
            </a:r>
            <a:r>
              <a:rPr lang="en-IN" dirty="0"/>
              <a:t>. </a:t>
            </a:r>
            <a:r>
              <a:rPr lang="en-IN" dirty="0" err="1"/>
              <a:t>Intell</a:t>
            </a:r>
            <a:r>
              <a:rPr lang="en-IN" dirty="0"/>
              <a:t>. Neural Eng. (</a:t>
            </a:r>
            <a:r>
              <a:rPr lang="en-IN" dirty="0" err="1"/>
              <a:t>MetroXRAINE</a:t>
            </a:r>
            <a:r>
              <a:rPr lang="en-IN" dirty="0"/>
              <a:t>)}, Oct. 2022.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[5] S. Sivamohan, S. S. Sridhar, and S. Krishnaveni, "TEA-EKHO-IDS: An intrusion detection system for industrial CPS..." \</a:t>
            </a:r>
            <a:r>
              <a:rPr lang="en-IN" dirty="0" err="1"/>
              <a:t>textit</a:t>
            </a:r>
            <a:r>
              <a:rPr lang="en-IN" dirty="0"/>
              <a:t>{Peer-to-Peer </a:t>
            </a:r>
            <a:r>
              <a:rPr lang="en-IN" dirty="0" err="1"/>
              <a:t>Netw</a:t>
            </a:r>
            <a:r>
              <a:rPr lang="en-IN" dirty="0"/>
              <a:t>. Appl.}, vol. 16, no. 4, Aug. 2023.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[6] L. </a:t>
            </a:r>
            <a:r>
              <a:rPr lang="en-IN" dirty="0" err="1"/>
              <a:t>Almuqren</a:t>
            </a:r>
            <a:r>
              <a:rPr lang="en-IN" dirty="0"/>
              <a:t>, M. S. </a:t>
            </a:r>
            <a:r>
              <a:rPr lang="en-IN" dirty="0" err="1"/>
              <a:t>Maashi</a:t>
            </a:r>
            <a:r>
              <a:rPr lang="en-IN" dirty="0"/>
              <a:t>, et al., "Explainable artificial intelligence enabled intrusion detection technique for secure cyber-physical systems," \</a:t>
            </a:r>
            <a:r>
              <a:rPr lang="en-IN" dirty="0" err="1"/>
              <a:t>textit</a:t>
            </a:r>
            <a:r>
              <a:rPr lang="en-IN" dirty="0"/>
              <a:t>{Appl. Sci.}, vol. 13, no. 5, Feb. 2023.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[8] R. Rajkumar, I. Lee, L. Sha, and J. Stankovic, "Cyber-physical systems: The next computing revolution," in \</a:t>
            </a:r>
            <a:r>
              <a:rPr lang="en-IN" dirty="0" err="1"/>
              <a:t>textit</a:t>
            </a:r>
            <a:r>
              <a:rPr lang="en-IN" dirty="0"/>
              <a:t>{Proc. Design Autom. Conf.}, Jun. 2010.</a:t>
            </a:r>
          </a:p>
          <a:p>
            <a:pPr algn="just">
              <a:lnSpc>
                <a:spcPct val="120000"/>
              </a:lnSpc>
            </a:pPr>
            <a:r>
              <a:rPr lang="en-IN" dirty="0"/>
              <a:t>[10] S. R. Islam, W. Eberle, et al., "Explainable artificial intelligence approaches: A survey," 2021, arXiv:2101.09429.</a:t>
            </a:r>
          </a:p>
          <a:p>
            <a:pPr algn="just">
              <a:lnSpc>
                <a:spcPct val="12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9231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6A6D-A6E4-4525-B6D8-999EE0FB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8C06-3944-0576-FD0E-2E1389C7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250666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IN" sz="6000" b="1" dirty="0">
                <a:solidFill>
                  <a:srgbClr val="002060"/>
                </a:solidFill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95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110</TotalTime>
  <Words>837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Courier New</vt:lpstr>
      <vt:lpstr>Office Theme</vt:lpstr>
      <vt:lpstr>Building the Glass Box: A Human-Centered Framework for Explainable AI in Cyber-Physical Systems </vt:lpstr>
      <vt:lpstr>Contents</vt:lpstr>
      <vt:lpstr>Introduction: The "Black Box" Crisis</vt:lpstr>
      <vt:lpstr>The Solution: Explainable AI (XAI)</vt:lpstr>
      <vt:lpstr>PowerPoint Presentation</vt:lpstr>
      <vt:lpstr>Literature Survey: Key Papers &amp; Frameworks</vt:lpstr>
      <vt:lpstr>PowerPoint Presentation</vt:lpstr>
      <vt:lpstr>Literature Survey: What is a CPS?</vt:lpstr>
      <vt:lpstr>Literature Survey: Key Applications</vt:lpstr>
      <vt:lpstr>PowerPoint Presentation</vt:lpstr>
      <vt:lpstr>The Core Research Gaps</vt:lpstr>
      <vt:lpstr>Motivation: Why Solve This?</vt:lpstr>
      <vt:lpstr>Project Objectives</vt:lpstr>
      <vt:lpstr>Methodology: A 3-Phase Framework</vt:lpstr>
      <vt:lpstr>Phase 1: System Design &amp; Requirements</vt:lpstr>
      <vt:lpstr>Phase 2: Human-Centered Evaluation (HCE)</vt:lpstr>
      <vt:lpstr>Phase 3: Context-Awareness Testing</vt:lpstr>
      <vt:lpstr>Conclusion &amp; Recommendations</vt:lpstr>
      <vt:lpstr>Key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Glass Box: A Human-Centered Framework for Explainable AI in Cyber-Physical Systems </dc:title>
  <dc:creator>Shreyansh Gupta</dc:creator>
  <cp:lastModifiedBy>Subhranshu Panda</cp:lastModifiedBy>
  <cp:revision>2</cp:revision>
  <dcterms:created xsi:type="dcterms:W3CDTF">2025-11-17T19:12:46Z</dcterms:created>
  <dcterms:modified xsi:type="dcterms:W3CDTF">2025-11-18T09:00:18Z</dcterms:modified>
</cp:coreProperties>
</file>